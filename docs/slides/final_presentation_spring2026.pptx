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23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385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A3858"/>
                </a:solidFill>
                <a:latin typeface="Arial"/>
              </a:rPr>
              <a:t>Population-Level Mean AI vs Aggressive-Driver Fraction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mean AI</c:v>
                </c:pt>
              </c:strCache>
            </c:strRef>
          </c:tx>
          <c:spPr>
            <a:ln w="50800" cap="flat">
              <a:solidFill>
                <a:srgbClr val="2A385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3858"/>
              </a:solidFill>
              <a:ln w="9525" cap="flat">
                <a:solidFill>
                  <a:srgbClr val="2A385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3858"/>
                    </a:solidFill>
                    <a:latin typeface="Arial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26.3</c:v>
                </c:pt>
                <c:pt idx="1">
                  <c:v>33.1</c:v>
                </c:pt>
                <c:pt idx="2">
                  <c:v>35.700000000000003</c:v>
                </c:pt>
                <c:pt idx="3">
                  <c:v>37.5</c:v>
                </c:pt>
                <c:pt idx="4">
                  <c:v>38.299999999999997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95-41CC-90E7-1AD21976E021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3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3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86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36576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53035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07040" y="69494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0" y="859536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71632" y="36576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71632" y="53035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771632" y="69494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71632" y="859536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36224" y="36576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36224" y="53035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36224" y="69494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36224" y="859536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100816" y="36576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100816" y="53035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00816" y="69494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00816" y="859536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265408" y="36576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265408" y="53035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265408" y="69494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265408" y="859536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0584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OF BEIRUT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Maroun Semaan Faculty of Engineering &amp; Architecture · VIPP 201A · Spring 2026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05840" y="219456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of Driver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7C0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Aggressiveness Level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Driving Behavior</a:t>
            </a:r>
            <a:endParaRPr lang="en-US" sz="4800" dirty="0"/>
          </a:p>
        </p:txBody>
      </p:sp>
      <p:sp>
        <p:nvSpPr>
          <p:cNvPr id="28" name="Text 25"/>
          <p:cNvSpPr/>
          <p:nvPr/>
        </p:nvSpPr>
        <p:spPr>
          <a:xfrm>
            <a:off x="1005840" y="4389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Closed-Form Aggressiveness Index to a Sensor-Noise-Validated, ROS2-Integrated Multi-Environment System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05840" y="5212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058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Prof. Naseem Daher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58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Term 2026  ·  Period: January 20 – May 9, 2026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5840" y="6355080"/>
            <a:ext cx="3657600" cy="64008"/>
          </a:xfrm>
          <a:prstGeom prst="rect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American University of Beirut | Engineering For Change">
            <a:extLst>
              <a:ext uri="{FF2B5EF4-FFF2-40B4-BE49-F238E27FC236}">
                <a16:creationId xmlns:a16="http://schemas.microsoft.com/office/drawing/2014/main" id="{2D19A9F1-139B-C61B-0483-0AB797686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48063" y="75993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AGENDA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5840" y="18288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18288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515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600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600200" y="2468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Aggressiveness Index, the Q-learner, and what last term left unresolved.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18288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0" y="18288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177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1663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2468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DynamicWeightAgent + soft gating for smooth regime transitions.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38160" y="18288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138160" y="18288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1838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7325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&amp; Fix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732520" y="2468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error + state-visitation reveal a hidden conservative bias; curiosity fixes it.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05840" y="38862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05840" y="38862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515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60020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Experiments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600200" y="4526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Population-scale shockwave, dose-response, and Social Latency mitigation.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0" y="38862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572000" y="38862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6177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1663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&amp; ROS2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166360" y="4526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Slip-ratio telemetry, weather regime, and a working ROS2 publisher node.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138160" y="3886200"/>
            <a:ext cx="33832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138160" y="388620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1838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7325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Sensor-Noise Validation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732520" y="4526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2–9 integration push: 100% accuracy was a bug; 91% / 81.6% / 88.3% is real.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50" name="Picture 2" descr="American University of Beirut | Engineering For Change">
            <a:extLst>
              <a:ext uri="{FF2B5EF4-FFF2-40B4-BE49-F238E27FC236}">
                <a16:creationId xmlns:a16="http://schemas.microsoft.com/office/drawing/2014/main" id="{556526B8-0355-F6E3-1312-9ED57F9F9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predict driver aggressiveness?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autonomous-vehicle stacks treat surrounding traffic as moving obstacles with fixed safety buffers — the abstraction throws away most of the information about driver intent.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77440"/>
            <a:ext cx="4937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77440"/>
            <a:ext cx="4937760" cy="502920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 STACK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31089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velocity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safety buffers (TTC, headway)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responds after the fact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cars in the same state are treated as the same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17920" y="2377440"/>
            <a:ext cx="4937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7920" y="2377440"/>
            <a:ext cx="4937760" cy="502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0" y="31089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variable: Aggressiveness Index (AI)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closed-form formula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anticipates intent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with downstream planners (ROS2)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0" name="Picture 2" descr="American University of Beirut | Engineering For Change">
            <a:extLst>
              <a:ext uri="{FF2B5EF4-FFF2-40B4-BE49-F238E27FC236}">
                <a16:creationId xmlns:a16="http://schemas.microsoft.com/office/drawing/2014/main" id="{C44B19BC-D2FE-FACF-2785-84DB0F4C6F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RECAP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midterm left off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term established the closed-form Aggressiveness Index and a discrete Q-learner that mapped AI scores to behavioral categories. That left two important questions open.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77440"/>
            <a:ext cx="33832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77440"/>
            <a:ext cx="338328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INDEX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34440" y="30175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0.30·N_speed + 0.10·N_accel + 0.45·N_prox + 0.15·N_wave (highway)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Weighted-sum of normalized kinematic features → 0–100 score.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2377440"/>
            <a:ext cx="33832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0" y="2377440"/>
            <a:ext cx="338328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00600" y="30175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10×3 discrete table mapping AI buckets to {Conservative, Normal, Aggressive}. Reported ~100% accuracy on held-out highway-env data.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38160" y="2377440"/>
            <a:ext cx="33832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138160" y="2377440"/>
            <a:ext cx="3383280" cy="457200"/>
          </a:xfrm>
          <a:prstGeom prst="rect">
            <a:avLst/>
          </a:prstGeom>
          <a:solidFill>
            <a:srgbClr val="7C0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21040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366760" y="30175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Q-learner actually learning, or memorizing? Could the index extend to population-scale traffic? Could it survive sensor noise?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6172200"/>
            <a:ext cx="10149840" cy="27432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188720" y="6199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Daher's January feedback: the accuracy curve is tautological — labels come from the same threshold rule that produces the score.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5" name="Picture 2" descr="American University of Beirut | Engineering For Change">
            <a:extLst>
              <a:ext uri="{FF2B5EF4-FFF2-40B4-BE49-F238E27FC236}">
                <a16:creationId xmlns:a16="http://schemas.microsoft.com/office/drawing/2014/main" id="{5DFDE868-7CD9-6CD6-9D3F-A8D7BF929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CONTRIBUTIONS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pieces, end-to-end.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005840" y="1691640"/>
            <a:ext cx="5029200" cy="2286000"/>
          </a:xfrm>
          <a:prstGeom prst="rect">
            <a:avLst/>
          </a:prstGeom>
          <a:solidFill>
            <a:srgbClr val="364767"/>
          </a:solidFill>
          <a:ln w="6350">
            <a:solidFill>
              <a:srgbClr val="4A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0312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agent architecture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DynamicWeightAgent learns context-conditioned AI weights instead of mapping scores → categories. Soft gating between regimes.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5029200" cy="2286000"/>
          </a:xfrm>
          <a:prstGeom prst="rect">
            <a:avLst/>
          </a:prstGeom>
          <a:solidFill>
            <a:srgbClr val="364767"/>
          </a:solidFill>
          <a:ln w="6350">
            <a:solidFill>
              <a:srgbClr val="4A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+ fix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2560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Bellman-error and state-visitation surface a conservative bias. A count-based curiosity bonus drops Bellman error 50% and per-class accuracy on rare classes by +22 pp.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4160520"/>
            <a:ext cx="5029200" cy="2286000"/>
          </a:xfrm>
          <a:prstGeom prst="rect">
            <a:avLst/>
          </a:prstGeom>
          <a:solidFill>
            <a:srgbClr val="364767"/>
          </a:solidFill>
          <a:ln w="6350">
            <a:solidFill>
              <a:srgbClr val="4A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10312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at population scale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103120" y="50292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5%-aggressive cohort produces a +6.8 AI shockwave on neighbors; saturating dose-response. Social Latency penalty recovers 75% of that damage at 2.8% trip-time cost.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5029200" cy="2286000"/>
          </a:xfrm>
          <a:prstGeom prst="rect">
            <a:avLst/>
          </a:prstGeom>
          <a:solidFill>
            <a:srgbClr val="364767"/>
          </a:solidFill>
          <a:ln w="6350">
            <a:solidFill>
              <a:srgbClr val="4A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6948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Sensor-noise validation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69480" y="50292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2–9 push: 100% accuracy was an info leak. Independent code paths + Gaussian noise → 91% / 81.6% / 88.3% across highway / urban / weather.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4" name="Picture 2" descr="American University of Beirut | Engineering For Change">
            <a:extLst>
              <a:ext uri="{FF2B5EF4-FFF2-40B4-BE49-F238E27FC236}">
                <a16:creationId xmlns:a16="http://schemas.microsoft.com/office/drawing/2014/main" id="{2CBAD839-B013-A936-A14C-65F50C0D1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·  THEORETICAL FRAMING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behavior as a Markov Decision Process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project — the Q-learner, the DynamicWeightAgent, the Social Latency reward — sits inside the same formal framework: a Markov Decision Process. Stating the tuple explicitly makes the design choices below it legible.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514600"/>
            <a:ext cx="199339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514600"/>
            <a:ext cx="1993392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05840" y="25603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1005840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15568" y="342900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(speed, accel, prox, wave) + context (road, density, friction, slip)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044952" y="2514600"/>
            <a:ext cx="199339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044952" y="2514600"/>
            <a:ext cx="1993392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044952" y="25603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3044952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54680" y="342900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lane: keep / left / right · accel: brake / idle / throttle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84064" y="2514600"/>
            <a:ext cx="199339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84064" y="2514600"/>
            <a:ext cx="1993392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84064" y="25603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5084064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93792" y="342900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state given current state and action — supplied by SUMO / highway-env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23176" y="2514600"/>
            <a:ext cx="199339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123176" y="2514600"/>
            <a:ext cx="1993392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123176" y="25603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200" dirty="0"/>
          </a:p>
        </p:txBody>
      </p:sp>
      <p:sp>
        <p:nvSpPr>
          <p:cNvPr id="37" name="Text 34"/>
          <p:cNvSpPr/>
          <p:nvPr/>
        </p:nvSpPr>
        <p:spPr>
          <a:xfrm>
            <a:off x="7123176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232904" y="342900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AI_self) − λ · max(0, ΔAI_neighbors)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162288" y="2514600"/>
            <a:ext cx="199339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162288" y="2514600"/>
            <a:ext cx="1993392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162288" y="25603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</a:t>
            </a:r>
            <a:endParaRPr lang="en-US" sz="3200" dirty="0"/>
          </a:p>
        </p:txBody>
      </p:sp>
      <p:sp>
        <p:nvSpPr>
          <p:cNvPr id="42" name="Text 39"/>
          <p:cNvSpPr/>
          <p:nvPr/>
        </p:nvSpPr>
        <p:spPr>
          <a:xfrm>
            <a:off x="9162288" y="3017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272016" y="342900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— values the next ~20 steps over distant future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05840" y="5212080"/>
            <a:ext cx="10149840" cy="105156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18872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88720" y="5577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P(s_{t+1} | s_t, a_t)  =  P(s_{t+1} | s_t, a_t, s_{t-1}, a_{t-1}, …, s_0, a_0)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88720" y="59436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construction: the kinematic + context state captures everything the policy needs about history — past trajectories enter only through their effect on present waviness and proximity.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 2 /22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50" name="Picture 2" descr="American University of Beirut | Engineering For Change">
            <a:extLst>
              <a:ext uri="{FF2B5EF4-FFF2-40B4-BE49-F238E27FC236}">
                <a16:creationId xmlns:a16="http://schemas.microsoft.com/office/drawing/2014/main" id="{E430C16A-1A76-81AE-82EC-A7F3DA3F2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NEW ARCHITECTURE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Q-learner to a weight predictor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Q-learner mapped AI scores to categories. Both came from the same formula → tautology. The DynamicWeightAgent reposes the task: predict the AI weights themselves, conditioned on context.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77440"/>
            <a:ext cx="4937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77440"/>
            <a:ext cx="4937760" cy="502920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 ·  DISCRETE Q-LEARNER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31089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  AI bucket → {C, N, A}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space:  10 × 3 discrete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clean accuracy curve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…computed against labels generated by the same formula that produces the score.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17920" y="2377440"/>
            <a:ext cx="4937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7920" y="2377440"/>
            <a:ext cx="4937760" cy="502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 ·  DYNAMIC WEIGHT AGENT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31089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4 kinematic + 5 context features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 4 AI weights (softmax)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KL(predicted ‖ regime target) + RL term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signal anchors weights to per-regime targets, then RL fine-tunes them — no tautology.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29" name="Picture 2" descr="American University of Beirut | Engineering For Change">
            <a:extLst>
              <a:ext uri="{FF2B5EF4-FFF2-40B4-BE49-F238E27FC236}">
                <a16:creationId xmlns:a16="http://schemas.microsoft.com/office/drawing/2014/main" id="{8FB2F22C-DA71-393C-1D97-BDD6805D2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DynamicWeightAgent — under the hood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4400" y="228600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 input (4)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· accel · prox · wave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4400" y="365760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input (5)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· density · friction · slip · weather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0" y="2971800"/>
            <a:ext cx="1554480" cy="109728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ReLU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hidden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0" y="2971800"/>
            <a:ext cx="1554480" cy="109728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864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ReLU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hidden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15200" y="2971800"/>
            <a:ext cx="1554480" cy="109728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weights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418320" y="2743200"/>
            <a:ext cx="2011680" cy="155448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41832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Score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41832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4183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926080" y="2834640"/>
            <a:ext cx="685800" cy="365760"/>
          </a:xfrm>
          <a:prstGeom prst="line">
            <a:avLst/>
          </a:prstGeom>
          <a:noFill/>
          <a:ln w="1905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2926080" y="4206240"/>
            <a:ext cx="685800" cy="0"/>
          </a:xfrm>
          <a:prstGeom prst="line">
            <a:avLst/>
          </a:prstGeom>
          <a:noFill/>
          <a:ln w="1905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212080" y="3520440"/>
            <a:ext cx="274320" cy="0"/>
          </a:xfrm>
          <a:prstGeom prst="line">
            <a:avLst/>
          </a:prstGeom>
          <a:noFill/>
          <a:ln w="1905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040880" y="3520440"/>
            <a:ext cx="274320" cy="0"/>
          </a:xfrm>
          <a:prstGeom prst="line">
            <a:avLst/>
          </a:prstGeom>
          <a:noFill/>
          <a:ln w="1905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869680" y="3520440"/>
            <a:ext cx="548640" cy="0"/>
          </a:xfrm>
          <a:prstGeom prst="line">
            <a:avLst/>
          </a:prstGeom>
          <a:noFill/>
          <a:ln w="1905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05840" y="5303520"/>
            <a:ext cx="10149840" cy="82296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1887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88720" y="5623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· KL(predicted ‖ regime target)  +  (1 − α) · 𝔼[AI − 1]      with α annealed 1.0 → 0.5 over 50 epochs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7" name="Picture 2" descr="American University of Beirut | Engineering For Change">
            <a:extLst>
              <a:ext uri="{FF2B5EF4-FFF2-40B4-BE49-F238E27FC236}">
                <a16:creationId xmlns:a16="http://schemas.microsoft.com/office/drawing/2014/main" id="{869978F0-6E72-7DCB-CE6A-601015464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·  STATE DISCRETIZATION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 space, made visible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Q-learner discretizes the AI score into 10 buckets × 3 categorical labels — a 30-cell Q-table over the Markovian state. Visualizing the learned values is the first sanity check that the policy is doing something coherent.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514600"/>
            <a:ext cx="4937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51460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587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int(min(AI_score // 10, 9))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∈ {0: Conservative, 1: Normal, 2: Aggressive}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80160" y="4114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0 (AI 0–10):    near-empty highway, no leader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5 (AI 50–60):  mixed close-quarter traffic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9 (AI 90–100): tailgating, weaving, near-collision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280160" y="5532120"/>
            <a:ext cx="1371600" cy="54864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80160" y="5559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80160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0" y="5532120"/>
            <a:ext cx="1371600" cy="54864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43200" y="5559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8,924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743200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06240" y="5532120"/>
            <a:ext cx="1371600" cy="54864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206240" y="5559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206240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000" dirty="0"/>
          </a:p>
        </p:txBody>
      </p:sp>
      <p:pic>
        <p:nvPicPr>
          <p:cNvPr id="34" name="Image 1" descr="deck_assets/q_learning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2514600"/>
            <a:ext cx="5029200" cy="3657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2648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Q-TABLE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126480" y="6199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AI-score buckets (state) · Columns: actions C / N / A · Color intensity = learned Q-value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Part 2 /22</a:t>
            </a:r>
          </a:p>
        </p:txBody>
      </p:sp>
      <p:sp>
        <p:nvSpPr>
          <p:cNvPr id="38" name="Text 34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9" name="Picture 2" descr="American University of Beirut | Engineering For Change">
            <a:extLst>
              <a:ext uri="{FF2B5EF4-FFF2-40B4-BE49-F238E27FC236}">
                <a16:creationId xmlns:a16="http://schemas.microsoft.com/office/drawing/2014/main" id="{FD998E7A-56FA-0EE6-6993-FE14682753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SOFT REGIME SWITCHING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gating network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switch on regime produces unphysical discontinuities at boundaries. The gate replaces it with a soft mixture over three learnable regime embeddings — convex combination, weighted by the gate.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468880"/>
            <a:ext cx="49377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46888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+  REGIME EMBEDDINGS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gate(context) → softmax over 3 regimes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predicted_weights = gate · regime_embeddings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80160" y="4023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Highway target:    (0.30, 0.10, 0.45, 0.15)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 target:      (0.20, 0.15, 0.35, 0.30)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target:    (0.10, 0.40, 0.15, 0.35)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280160" y="5440680"/>
            <a:ext cx="1371600" cy="50292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8016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8016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88920" y="5440680"/>
            <a:ext cx="1371600" cy="50292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78892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steps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78892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ramp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297680" y="5440680"/>
            <a:ext cx="1371600" cy="50292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29768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 KL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297680" y="5715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target</a:t>
            </a:r>
            <a:endParaRPr lang="en-US" sz="900" dirty="0"/>
          </a:p>
        </p:txBody>
      </p:sp>
      <p:pic>
        <p:nvPicPr>
          <p:cNvPr id="34" name="Image 1" descr="deck_assets/fig_ultimate_proo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0" y="2468880"/>
            <a:ext cx="5120640" cy="35661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26480" y="6035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Per-regime weight convergence — solid: agent prediction; dashed: target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8" name="Picture 2" descr="American University of Beirut | Engineering For Change">
            <a:extLst>
              <a:ext uri="{FF2B5EF4-FFF2-40B4-BE49-F238E27FC236}">
                <a16:creationId xmlns:a16="http://schemas.microsoft.com/office/drawing/2014/main" id="{033D8887-61C7-C42F-C957-C7DC71FFA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ABLATION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ablation that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Daher's requested ablation: zero the context input, retrain. If the gate still works, the context features were never doing anything. If it doesn't, they're carrying the signal.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468880"/>
            <a:ext cx="10149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468880"/>
            <a:ext cx="365760" cy="13716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544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 KL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00800" y="2743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produces sensible regime mixtures; weights track per-regime targets within 0.03 L1.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05840" y="4114800"/>
            <a:ext cx="101498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5840" y="4114800"/>
            <a:ext cx="365760" cy="1371600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55448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ZEROED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0.18 KL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400800" y="4389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collapse toward highway target (dominant regime). Predicted weights regime-agnostic.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005840" y="5852160"/>
            <a:ext cx="10149840" cy="45720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188720" y="5897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context features carry the discriminative signal. The architecture isn't a glorified lookup.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3" name="Picture 2" descr="American University of Beirut | Engineering For Change">
            <a:extLst>
              <a:ext uri="{FF2B5EF4-FFF2-40B4-BE49-F238E27FC236}">
                <a16:creationId xmlns:a16="http://schemas.microsoft.com/office/drawing/2014/main" id="{50D08233-E015-F8D5-D185-F7552E19D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DIAGNOSTICS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Q-learner was hiding something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diagnostics, week 5: log Bellman error per (s, a) update; build state-visitation heatmaps. The result: the Q-learner had implicitly learned to avoid the states where its predictions would fail.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468880"/>
            <a:ext cx="4937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46888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ERROR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|δ| heavily right-skewed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8016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&lt; 0.05</a:t>
            </a:r>
            <a:endParaRPr lang="en-US" sz="3800" dirty="0"/>
          </a:p>
        </p:txBody>
      </p:sp>
      <p:sp>
        <p:nvSpPr>
          <p:cNvPr id="24" name="Text 21"/>
          <p:cNvSpPr/>
          <p:nvPr/>
        </p:nvSpPr>
        <p:spPr>
          <a:xfrm>
            <a:off x="1280160" y="4297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to 0.6 in (low n_speed, high n_prox) corner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17920" y="2468880"/>
            <a:ext cx="4937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17920" y="246888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VISITATION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grid over n_speed × n_prox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9224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6492240" y="4297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fast-and-unobstructed corner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5486400"/>
            <a:ext cx="10149840" cy="777240"/>
          </a:xfrm>
          <a:prstGeom prst="rect">
            <a:avLst/>
          </a:prstGeom>
          <a:solidFill>
            <a:srgbClr val="7C0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18872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88720" y="5806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Q-learner minimizes its chance of finding out it is wrong by avoiding the under-explored states where its predictions would fail. The midterm's 100% accuracy is an artifact of the agent choosing its own evaluation distribution.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6" name="Picture 2" descr="American University of Beirut | Engineering For Change">
            <a:extLst>
              <a:ext uri="{FF2B5EF4-FFF2-40B4-BE49-F238E27FC236}">
                <a16:creationId xmlns:a16="http://schemas.microsoft.com/office/drawing/2014/main" id="{81D5F9A0-3223-3CE0-0629-61B6F10F68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FIX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count-based curiosity bonus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intrinsic motivation to drive the agent into under-explored states. Bellemare et al. (2016) — count-based, no learned predictor needed because the Q-learner is tabular.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77440"/>
            <a:ext cx="10149840" cy="73152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88720" y="2423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D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R_total(s) = R_env(s) + β / sqrt(N(s) + 1)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8872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β-sweep over {0.01, 0.05, 0.1, 0.5, 1.0}.  Operating point: β = 0.1.  Bonus is transient — negligible by episode 80.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" y="3383280"/>
            <a:ext cx="32461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005840" y="3383280"/>
            <a:ext cx="3246120" cy="13716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584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188720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high-prox column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88720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 → 0.09 mean |δ|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34840" y="3383280"/>
            <a:ext cx="32461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434840" y="3383280"/>
            <a:ext cx="3246120" cy="13716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43484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 pp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4617720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accuracy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617720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→ 89%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63840" y="3383280"/>
            <a:ext cx="32461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863840" y="3383280"/>
            <a:ext cx="3246120" cy="13716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863840" y="3749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→ 40%</a:t>
            </a:r>
            <a:endParaRPr lang="en-US" sz="3600" dirty="0"/>
          </a:p>
        </p:txBody>
      </p:sp>
      <p:sp>
        <p:nvSpPr>
          <p:cNvPr id="35" name="Text 32"/>
          <p:cNvSpPr/>
          <p:nvPr/>
        </p:nvSpPr>
        <p:spPr>
          <a:xfrm>
            <a:off x="8046720" y="46177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Easy-corner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046720" y="5257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actually exploring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05840" y="5943600"/>
            <a:ext cx="10149840" cy="36576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188720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100% accuracy was a bug signal. The infrastructure mattered more than the architecture choice.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1" name="Picture 2" descr="American University of Beirut | Engineering For Change">
            <a:extLst>
              <a:ext uri="{FF2B5EF4-FFF2-40B4-BE49-F238E27FC236}">
                <a16:creationId xmlns:a16="http://schemas.microsoft.com/office/drawing/2014/main" id="{1F1362DD-9733-3619-E944-BA87DB887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SIMULATION ENVIRONMENT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highway-env to SUMO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highway-env was the right environment for solo-agent training. Population-scale questions — does one aggressive driver create a measurable shockwave? — need a different tool.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DEMO</a:t>
            </a:r>
            <a:endParaRPr lang="en-US" sz="1000" dirty="0"/>
          </a:p>
        </p:txBody>
      </p:sp>
      <p:pic>
        <p:nvPicPr>
          <p:cNvPr id="20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5840" y="2606040"/>
            <a:ext cx="4937760" cy="32918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05840" y="5943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highway-env intersection — single ego, scripted neighbors. Useful for verifying the DynamicWeightAgent's forward pass and the gating ramp behavior.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21792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INTERSECTION</a:t>
            </a:r>
            <a:endParaRPr lang="en-US" sz="1000" dirty="0"/>
          </a:p>
        </p:txBody>
      </p:sp>
      <p:pic>
        <p:nvPicPr>
          <p:cNvPr id="23" name="Image 1" descr="deck_assets/fig_sumo_intersecti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7920" y="2606040"/>
            <a:ext cx="4937760" cy="2743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17920" y="5532120"/>
            <a:ext cx="1554480" cy="82296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21792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1000+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21792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909560" y="5532120"/>
            <a:ext cx="1554480" cy="82296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90956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90956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hwy / urban / wet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601200" y="5532120"/>
            <a:ext cx="1554480" cy="82296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960120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Hz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9601200" y="5943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5" name="Picture 2" descr="American University of Beirut | Engineering For Change">
            <a:extLst>
              <a:ext uri="{FF2B5EF4-FFF2-40B4-BE49-F238E27FC236}">
                <a16:creationId xmlns:a16="http://schemas.microsoft.com/office/drawing/2014/main" id="{B3345206-B7FE-C20B-FDF0-C7678AC06E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POPULATION-SCALE FINDING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heterogeneous-driver shockwave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Aggressive vehicles seeded into a population of Normals. Compute per-vehicle mean AI; compare against the all-Normal reference run.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31720"/>
            <a:ext cx="5029200" cy="393192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5840" y="26974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+6.8 AI</a:t>
            </a:r>
            <a:endParaRPr lang="en-US" sz="9600" dirty="0"/>
          </a:p>
        </p:txBody>
      </p:sp>
      <p:sp>
        <p:nvSpPr>
          <p:cNvPr id="21" name="Text 18"/>
          <p:cNvSpPr/>
          <p:nvPr/>
        </p:nvSpPr>
        <p:spPr>
          <a:xfrm>
            <a:off x="100584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bump on Normals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9377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vehicles · 5 simulated minutes · 3-lane motorway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(0% aggr): 26.3 mean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aggressive: 33.1 mean AI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17920" y="2331720"/>
            <a:ext cx="4937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7920" y="233172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DECOMPOSITION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Normals by minimum distance to any Aggressive driver: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3383280"/>
            <a:ext cx="4572000" cy="777240"/>
          </a:xfrm>
          <a:prstGeom prst="rect">
            <a:avLst/>
          </a:prstGeom>
          <a:solidFill>
            <a:srgbClr val="F5EFD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400800" y="3383280"/>
            <a:ext cx="164592" cy="777240"/>
          </a:xfrm>
          <a:prstGeom prst="rect">
            <a:avLst/>
          </a:prstGeom>
          <a:solidFill>
            <a:srgbClr val="7C0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7512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7512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2960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0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+12.4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6012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reference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0" y="4297680"/>
            <a:ext cx="4572000" cy="777240"/>
          </a:xfrm>
          <a:prstGeom prst="rect">
            <a:avLst/>
          </a:prstGeom>
          <a:solidFill>
            <a:srgbClr val="F5EFD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400800" y="4297680"/>
            <a:ext cx="164592" cy="777240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7512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75120" y="4709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30–100 m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229600" y="4434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A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+6.6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960120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reference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400800" y="5212080"/>
            <a:ext cx="4572000" cy="777240"/>
          </a:xfrm>
          <a:prstGeom prst="rect">
            <a:avLst/>
          </a:prstGeom>
          <a:solidFill>
            <a:srgbClr val="F5EFD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400800" y="5212080"/>
            <a:ext cx="164592" cy="77724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67512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675120" y="5623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 m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22960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960120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reference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7" name="Picture 2" descr="American University of Beirut | Engineering For Change">
            <a:extLst>
              <a:ext uri="{FF2B5EF4-FFF2-40B4-BE49-F238E27FC236}">
                <a16:creationId xmlns:a16="http://schemas.microsoft.com/office/drawing/2014/main" id="{FF18E3E8-41CB-CCD9-BA47-03AFA8BAA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DOSE-RESPONSE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fractions do most of the damage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aggressive-driver fraction from 0% to 20%, three random seeds per condition. The marginal effect drops by an order of magnitude.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005840" y="219456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6"/>
          <p:cNvSpPr/>
          <p:nvPr/>
        </p:nvSpPr>
        <p:spPr>
          <a:xfrm>
            <a:off x="8138160" y="2194560"/>
            <a:ext cx="3017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38160" y="2194560"/>
            <a:ext cx="301752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27532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SATURATING FIT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27532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AI(f) 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26.3 + 12.5·(1 − e^(−f / 0.06))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2753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275320" y="4114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6%  (63% asymptote)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 = 18%: 95% asymptote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138160" y="5029200"/>
            <a:ext cx="3017520" cy="822960"/>
          </a:xfrm>
          <a:prstGeom prst="rect">
            <a:avLst/>
          </a:prstGeom>
          <a:solidFill>
            <a:srgbClr val="F5EFD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275320" y="5074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% aggressive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i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cause most of the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i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damage.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0" name="Picture 2" descr="American University of Beirut | Engineering For Change">
            <a:extLst>
              <a:ext uri="{FF2B5EF4-FFF2-40B4-BE49-F238E27FC236}">
                <a16:creationId xmlns:a16="http://schemas.microsoft.com/office/drawing/2014/main" id="{665E1418-A283-A44C-0C72-52B3891F49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MITIGATION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Latency: a reward with accountability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5840" y="1417320"/>
            <a:ext cx="10149840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88720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DC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R_total = (1 − AI_self) − λ · max(0, ΔAI_neighbors)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188720" y="19659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the agent for the AI it induces in neighbors within 30 m, but only for increases. Clip at zero — no penalty for being near already-aggressive drivers it didn't cause.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0584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λ-SWEEP RESULTS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788920"/>
          <a:ext cx="685800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3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3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3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Shockwave bump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3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unmitigated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38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 ◀ pick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 (+2.2)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 (−40%)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 (+6.5)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cautious — self AI 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F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8138160" y="2788920"/>
            <a:ext cx="3017520" cy="329184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2753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RESULT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3337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7600" dirty="0"/>
          </a:p>
        </p:txBody>
      </p:sp>
      <p:sp>
        <p:nvSpPr>
          <p:cNvPr id="26" name="Text 22"/>
          <p:cNvSpPr/>
          <p:nvPr/>
        </p:nvSpPr>
        <p:spPr>
          <a:xfrm>
            <a:off x="8275320" y="4663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shockwave damage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when 50% of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Normals run λ=2.0 agents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412480" y="5532120"/>
            <a:ext cx="2606040" cy="41148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8412480" y="5559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 trip-time cost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1" name="Picture 2" descr="American University of Beirut | Engineering For Change">
            <a:extLst>
              <a:ext uri="{FF2B5EF4-FFF2-40B4-BE49-F238E27FC236}">
                <a16:creationId xmlns:a16="http://schemas.microsoft.com/office/drawing/2014/main" id="{3B2A1FA2-5E07-36EB-F56C-B16D37493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FRICTION-AWARE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weather regime, derived from observables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doesn't expose slip ratio. We derive it from kinematic observables that SUMO does expose: slip ≈ |v_actual − v_intended| / v_actual.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31720"/>
            <a:ext cx="4937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3172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ESTIMATOR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887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slip ≈ |v_actual − v_IDM_eq| / v_actual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8872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 (μ = 0.9): slip ≈ 0.01 (noise floor)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(μ = 0.4): slip rises to 0.15–0.25 during accel events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correlation with slip → re-tuned weather targets: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88720" y="49834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w_accel = 0.40   (Pearson r = 0.71)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w_wave  = 0.35   (r = 0.43)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w_prox  = 0.15   (r = 0.18)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w_speed = 0.10   (r = 0.04)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17920" y="2331720"/>
            <a:ext cx="4937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0" y="2331720"/>
            <a:ext cx="493776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MIXTURE  ·  μ = 0.4 SCENARIO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98080" y="2971800"/>
            <a:ext cx="1267358" cy="201168"/>
          </a:xfrm>
          <a:prstGeom prst="rect">
            <a:avLst/>
          </a:prstGeom>
          <a:solidFill>
            <a:srgbClr val="4A6E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498080" y="2971800"/>
            <a:ext cx="3017520" cy="201168"/>
          </a:xfrm>
          <a:prstGeom prst="rect">
            <a:avLst/>
          </a:prstGeom>
          <a:solidFill>
            <a:srgbClr val="F1ECDA">
              <a:alpha val="50000"/>
            </a:srgbClr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561320" y="2944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0080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98080" y="3337560"/>
            <a:ext cx="241402" cy="201168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498080" y="3337560"/>
            <a:ext cx="3017520" cy="201168"/>
          </a:xfrm>
          <a:prstGeom prst="rect">
            <a:avLst/>
          </a:prstGeom>
          <a:solidFill>
            <a:srgbClr val="F1ECDA">
              <a:alpha val="50000"/>
            </a:srgbClr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56132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08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498080" y="3703320"/>
            <a:ext cx="1508760" cy="201168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498080" y="3703320"/>
            <a:ext cx="3017520" cy="201168"/>
          </a:xfrm>
          <a:prstGeom prst="rect">
            <a:avLst/>
          </a:prstGeom>
          <a:solidFill>
            <a:srgbClr val="F1ECDA">
              <a:alpha val="50000"/>
            </a:srgbClr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561320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17920" y="4160520"/>
            <a:ext cx="4937760" cy="182880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4008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 ·  RE-RUN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400800" y="4572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+7.6  vs  +6.8</a:t>
            </a:r>
            <a:endParaRPr lang="en-US" sz="3000" dirty="0"/>
          </a:p>
        </p:txBody>
      </p:sp>
      <p:sp>
        <p:nvSpPr>
          <p:cNvPr id="44" name="Text 41"/>
          <p:cNvSpPr/>
          <p:nvPr/>
        </p:nvSpPr>
        <p:spPr>
          <a:xfrm>
            <a:off x="640080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bump on Normals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(μ=0.4)  vs  high-friction reference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7" name="Picture 2" descr="American University of Beirut | Engineering For Change">
            <a:extLst>
              <a:ext uri="{FF2B5EF4-FFF2-40B4-BE49-F238E27FC236}">
                <a16:creationId xmlns:a16="http://schemas.microsoft.com/office/drawing/2014/main" id="{486D04A6-08B3-234B-5877-844B84FCE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INTEGRATION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ROS2 wrapper — the integration surface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nodes, three message types, sub-50 ms latency budget. The AI score is now a topic that any planner downstream can subscribe to.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77440"/>
            <a:ext cx="3108960" cy="1645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887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TelemetryPublisher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/telemetry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 Hz, replay-from-bag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120640" y="2377440"/>
            <a:ext cx="3108960" cy="164592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035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AgentNode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30352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gate-head agent, eval mode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context, runs forward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35440" y="2377440"/>
            <a:ext cx="3108960" cy="1645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4183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/env/aggressiveness_index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41832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· regime mix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Project 8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0" y="3200400"/>
            <a:ext cx="1005840" cy="0"/>
          </a:xfrm>
          <a:prstGeom prst="line">
            <a:avLst/>
          </a:prstGeom>
          <a:noFill/>
          <a:ln w="2540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229600" y="3200400"/>
            <a:ext cx="1005840" cy="0"/>
          </a:xfrm>
          <a:prstGeom prst="line">
            <a:avLst/>
          </a:prstGeom>
          <a:noFill/>
          <a:ln w="25400">
            <a:solidFill>
              <a:srgbClr val="7A736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05840" y="4297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 ·  60-s telemetry stream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05840" y="46177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005840" y="4617720"/>
            <a:ext cx="2468880" cy="109728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05840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14.9 Hz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1005840" y="5440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rate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611880" y="46177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611880" y="4617720"/>
            <a:ext cx="2468880" cy="109728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611880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ms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3611880" y="5440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17920" y="46177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217920" y="4617720"/>
            <a:ext cx="2468880" cy="109728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17920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 ms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6217920" y="5440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99th percentile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823960" y="4617720"/>
            <a:ext cx="2468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823960" y="4617720"/>
            <a:ext cx="2468880" cy="109728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823960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8823960" y="5440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bit-identical replay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05840" y="6035040"/>
            <a:ext cx="10149840" cy="36576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188720" y="60807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target — Project 8 (Orchestrator). Shared topic schema agreed in week 2.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51" name="Picture 2" descr="American University of Beirut | Engineering For Change">
            <a:extLst>
              <a:ext uri="{FF2B5EF4-FFF2-40B4-BE49-F238E27FC236}">
                <a16:creationId xmlns:a16="http://schemas.microsoft.com/office/drawing/2014/main" id="{7C1E8296-3D54-48EC-A459-203495807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MAY 2–9 CODA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0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accuracy was a bug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smoke test, May 2 morning: agent-vs-ground-truth was 100% across all three SUMO scenarios. Perfect agreement between supposedly independent systems means they're not, in fact, independent.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606040"/>
            <a:ext cx="4937760" cy="3520440"/>
          </a:xfrm>
          <a:prstGeom prst="rect">
            <a:avLst/>
          </a:prstGeom>
          <a:solidFill>
            <a:srgbClr val="F0E2DC"/>
          </a:solidFill>
          <a:ln w="12700">
            <a:solidFill>
              <a:srgbClr val="7C0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0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INFO LEAK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280160" y="3200400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8016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.vehicle methods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194560" y="3749040"/>
            <a:ext cx="0" cy="457200"/>
          </a:xfrm>
          <a:prstGeom prst="line">
            <a:avLst/>
          </a:prstGeom>
          <a:noFill/>
          <a:ln w="25400">
            <a:solidFill>
              <a:srgbClr val="7C0A2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3749040"/>
            <a:ext cx="0" cy="457200"/>
          </a:xfrm>
          <a:prstGeom prst="line">
            <a:avLst/>
          </a:prstGeom>
          <a:noFill/>
          <a:ln w="25400">
            <a:solidFill>
              <a:srgbClr val="7C0A2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280160" y="42976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8016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GroundTruth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0" y="42976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AgentAssessor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280160" y="5074920"/>
            <a:ext cx="4389120" cy="914400"/>
          </a:xfrm>
          <a:prstGeom prst="rect">
            <a:avLst/>
          </a:prstGeom>
          <a:solidFill>
            <a:srgbClr val="7C0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280160" y="5120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same telemetry, both paths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280160" y="5440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accuracy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6217920" y="2606040"/>
            <a:ext cx="4937760" cy="3520440"/>
          </a:xfrm>
          <a:prstGeom prst="rect">
            <a:avLst/>
          </a:prstGeom>
          <a:solidFill>
            <a:srgbClr val="EAF1A8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008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SEPARATED PATHS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92240" y="3200400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492240" y="3246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.vehicle methods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406640" y="3749040"/>
            <a:ext cx="0" cy="457200"/>
          </a:xfrm>
          <a:prstGeom prst="line">
            <a:avLst/>
          </a:prstGeom>
          <a:noFill/>
          <a:ln w="25400">
            <a:solidFill>
              <a:srgbClr val="2A385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966960" y="3749040"/>
            <a:ext cx="0" cy="457200"/>
          </a:xfrm>
          <a:prstGeom prst="line">
            <a:avLst/>
          </a:prstGeom>
          <a:noFill/>
          <a:ln w="25400">
            <a:solidFill>
              <a:srgbClr val="2A385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492240" y="42976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49224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869680" y="429768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86968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AgentAssessor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Gaussian noise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92240" y="5074920"/>
            <a:ext cx="4389120" cy="91440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9224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D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σ_vel=0.5 m/s · σ_gap=0.8 m · σ_acc=0.3 m/s²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492240" y="5486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D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paths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7" name="Picture 2" descr="American University of Beirut | Engineering For Change">
            <a:extLst>
              <a:ext uri="{FF2B5EF4-FFF2-40B4-BE49-F238E27FC236}">
                <a16:creationId xmlns:a16="http://schemas.microsoft.com/office/drawing/2014/main" id="{F0CA8CCC-6AD2-93F6-0383-6CD9A11177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THREE MORE ISSUES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leak was hiding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GroundTruth and AgentAssessor were separated, three more bugs surfaced. They had been agreeing with themselves the whole time.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31720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3172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156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45920" y="2468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speed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45920" y="29260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speed_kmh / 150 squared makes a fraction smaller. With weight 0.30, speed term capped at 30% — below the 55% Aggressive threshold. Fix: linear, per-scenario v_ref.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2331720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172200" y="2331720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1792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12280" y="2468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ego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12280" y="292608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reading distance to the ego vehicle, not to each NPC's actual leader. IDM cars don't tailgate the ego. Fix: traci.vehicle.getLeader().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005840" y="4325112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005840" y="4325112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51560" y="4416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4592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Double-counted weather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645920" y="491947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file scaled maxSpeed by 0.7 AND runner did setMaxSpeed × 0.3. Aggressive weather vehicles capped at ~9 m/s — crawling. Fix: removed runner scaling.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72200" y="4325112"/>
            <a:ext cx="5029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172200" y="4325112"/>
            <a:ext cx="457200" cy="18288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17920" y="4416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81228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Two-lane intersection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812280" y="491947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vehicles lane-changed past conservatives, leaving them with no leader. Fix: 1-lane arms + 8 explicit C→A platoon pairs.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05840" y="6400800"/>
            <a:ext cx="10149840" cy="0"/>
          </a:xfrm>
          <a:prstGeom prst="rect">
            <a:avLst/>
          </a:prstGeom>
          <a:noFill/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2" name="Picture 2" descr="American University of Beirut | Engineering For Change">
            <a:extLst>
              <a:ext uri="{FF2B5EF4-FFF2-40B4-BE49-F238E27FC236}">
                <a16:creationId xmlns:a16="http://schemas.microsoft.com/office/drawing/2014/main" id="{E94A72AA-6B30-8ACB-7E9B-B7AE3548DF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FINAL RESULTS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Calibrated. Independent. Validated.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584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locked in May 8. Three scenarios, ~5400 vehicle samples total, with realistic Gaussian sensor noise on the agent's input only.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5840" y="2331720"/>
            <a:ext cx="32461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5840" y="2331720"/>
            <a:ext cx="3246120" cy="502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0584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200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91.0%</a:t>
            </a:r>
            <a:endParaRPr lang="en-US" sz="6000" dirty="0"/>
          </a:p>
        </p:txBody>
      </p:sp>
      <p:sp>
        <p:nvSpPr>
          <p:cNvPr id="23" name="Text 20"/>
          <p:cNvSpPr/>
          <p:nvPr/>
        </p:nvSpPr>
        <p:spPr>
          <a:xfrm>
            <a:off x="1188720" y="4434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ground-truth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sensor noise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887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1328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589 C / 717 N / 22 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34840" y="2331720"/>
            <a:ext cx="32461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434840" y="2331720"/>
            <a:ext cx="3246120" cy="502920"/>
          </a:xfrm>
          <a:prstGeom prst="rect">
            <a:avLst/>
          </a:prstGeom>
          <a:solidFill>
            <a:srgbClr val="7A736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3484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434840" y="3200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81.6%</a:t>
            </a:r>
            <a:endParaRPr lang="en-US" sz="6000" dirty="0"/>
          </a:p>
        </p:txBody>
      </p:sp>
      <p:sp>
        <p:nvSpPr>
          <p:cNvPr id="29" name="Text 26"/>
          <p:cNvSpPr/>
          <p:nvPr/>
        </p:nvSpPr>
        <p:spPr>
          <a:xfrm>
            <a:off x="4617720" y="4434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ground-truth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sensor noise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177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2284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1223 C / 501 N / 560 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863840" y="2331720"/>
            <a:ext cx="324612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863840" y="2331720"/>
            <a:ext cx="3246120" cy="50292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863840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863840" y="32004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88.3%</a:t>
            </a:r>
            <a:endParaRPr lang="en-US" sz="6000" dirty="0"/>
          </a:p>
        </p:txBody>
      </p:sp>
      <p:sp>
        <p:nvSpPr>
          <p:cNvPr id="35" name="Text 32"/>
          <p:cNvSpPr/>
          <p:nvPr/>
        </p:nvSpPr>
        <p:spPr>
          <a:xfrm>
            <a:off x="8046720" y="4434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ground-truth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sensor noise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04672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1825 samples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833 C / 837 N / 155 A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05840" y="5623560"/>
            <a:ext cx="10149840" cy="77724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18872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LESSON, TWICE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8872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anything is a bug signal. Both times the symptom was a clean accuracy curve computed against a reference too closely tied to the agent's own inputs. Both times the fix was infrastructure, not architecture.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42" name="Picture 2" descr="American University of Beirut | Engineering For Change">
            <a:extLst>
              <a:ext uri="{FF2B5EF4-FFF2-40B4-BE49-F238E27FC236}">
                <a16:creationId xmlns:a16="http://schemas.microsoft.com/office/drawing/2014/main" id="{0EAB72D3-21FE-ED07-DDA5-CCEE2F6FC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058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8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— and where it goes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607040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7040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07040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771632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771632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771632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936224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36224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100816" y="457200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100816" y="621792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00816" y="786384"/>
            <a:ext cx="64008" cy="64008"/>
          </a:xfrm>
          <a:prstGeom prst="ellipse">
            <a:avLst/>
          </a:prstGeom>
          <a:solidFill>
            <a:srgbClr val="A4B530"/>
          </a:solidFill>
          <a:ln w="12700">
            <a:solidFill>
              <a:srgbClr val="A4B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5840" y="1554480"/>
            <a:ext cx="50292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CF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1554480"/>
            <a:ext cx="5029200" cy="457200"/>
          </a:xfrm>
          <a:prstGeom prst="rect">
            <a:avLst/>
          </a:prstGeom>
          <a:solidFill>
            <a:srgbClr val="C9DC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8872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A3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ARTIFACTS SHIPPED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80160" y="214884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DynamicWeightAgent (MLP + gate heads)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suite + count-based curiosity bonus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wrapper, three scenarios, IDM/MOBIL configs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Shockwave + dose-response + Social Latency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Friction-aware regime with derived slip telemetry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stack (3 nodes, 3 message types, sub-50ms)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F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SumoGroundTruth / SumoAgentAssessor split + noise model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2A38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integration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urban-occlusion math with LIDAR line-of-sight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saturation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hand-picked normalization caps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noise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noise structure, beyond i.i.d. Gaussian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0080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 with shared Social Latency objective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On-vehicle batched inference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40080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50-vehicle latency limit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 · VIP 201A · Spring 2026 · Prof. Naseem Daher</a:t>
            </a:r>
            <a:endParaRPr lang="en-US" sz="900" dirty="0"/>
          </a:p>
        </p:txBody>
      </p:sp>
      <p:pic>
        <p:nvPicPr>
          <p:cNvPr id="36" name="Picture 2" descr="American University of Beirut | Engineering For Change">
            <a:extLst>
              <a:ext uri="{FF2B5EF4-FFF2-40B4-BE49-F238E27FC236}">
                <a16:creationId xmlns:a16="http://schemas.microsoft.com/office/drawing/2014/main" id="{725A1356-3CF0-9B1D-8DCF-9017898D2E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53051" y="4942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3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87782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42416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54864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71323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87782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042416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" y="54864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" y="71323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7824" y="87782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7824" y="1042416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2416" y="54864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2416" y="71323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42416" y="87782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2416" y="1042416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7008" y="54864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07008" y="71323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07008" y="87782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07008" y="1042416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07040" y="530352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07040" y="546811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607040" y="563270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771632" y="530352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771632" y="546811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771632" y="563270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936224" y="530352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936224" y="546811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36224" y="563270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100816" y="530352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100816" y="546811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100816" y="563270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265408" y="5303520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265408" y="5468112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265408" y="5632704"/>
            <a:ext cx="64008" cy="64008"/>
          </a:xfrm>
          <a:prstGeom prst="ellipse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584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38" name="Shape 36"/>
          <p:cNvSpPr/>
          <p:nvPr/>
        </p:nvSpPr>
        <p:spPr>
          <a:xfrm>
            <a:off x="5166360" y="3886200"/>
            <a:ext cx="1828800" cy="91440"/>
          </a:xfrm>
          <a:prstGeom prst="rect">
            <a:avLst/>
          </a:prstGeom>
          <a:solidFill>
            <a:srgbClr val="C9DC3E"/>
          </a:solidFill>
          <a:ln w="12700">
            <a:solidFill>
              <a:srgbClr val="C9D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4023360" y="5074920"/>
            <a:ext cx="4114800" cy="1280160"/>
          </a:xfrm>
          <a:prstGeom prst="rect">
            <a:avLst/>
          </a:prstGeom>
          <a:solidFill>
            <a:srgbClr val="364767"/>
          </a:solidFill>
          <a:ln w="6350">
            <a:solidFill>
              <a:srgbClr val="4A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23360" y="5120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Shmaissani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023360" y="5532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— Prof. Naseem Daher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E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github.com/xHeedz/VIPP-201---SPRING-2025-2026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A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VIPP 201A · Spring 2026 · American University of Beirut</a:t>
            </a:r>
            <a:endParaRPr lang="en-US" sz="900" dirty="0"/>
          </a:p>
        </p:txBody>
      </p:sp>
      <p:pic>
        <p:nvPicPr>
          <p:cNvPr id="45" name="Picture 2" descr="American University of Beirut | Engineering For Change">
            <a:extLst>
              <a:ext uri="{FF2B5EF4-FFF2-40B4-BE49-F238E27FC236}">
                <a16:creationId xmlns:a16="http://schemas.microsoft.com/office/drawing/2014/main" id="{CE404AA1-4F99-B989-5B53-B8B3B9564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7" t="17180" r="30316" b="13109"/>
          <a:stretch>
            <a:fillRect/>
          </a:stretch>
        </p:blipFill>
        <p:spPr bwMode="auto">
          <a:xfrm>
            <a:off x="69527" y="5980176"/>
            <a:ext cx="808297" cy="81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3274</Words>
  <Application>Microsoft Office PowerPoint</Application>
  <PresentationFormat>Widescreen</PresentationFormat>
  <Paragraphs>468</Paragraphs>
  <Slides>24</Slides>
  <Notes>24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Driver Aggressiveness Level via Driving Behavior — Final Presentation</dc:title>
  <dc:subject>PptxGenJS Presentation</dc:subject>
  <dc:creator>Hadi Al Shmaissani</dc:creator>
  <cp:lastModifiedBy>Hadi Shmaissani</cp:lastModifiedBy>
  <cp:revision>8</cp:revision>
  <dcterms:created xsi:type="dcterms:W3CDTF">2026-05-10T17:38:12Z</dcterms:created>
  <dcterms:modified xsi:type="dcterms:W3CDTF">2026-05-15T11:06:38Z</dcterms:modified>
</cp:coreProperties>
</file>