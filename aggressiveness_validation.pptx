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8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AI Aggressiveness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0C8D0"/>
                </a:solidFill>
              </a:rPr>
              <a:t>SUMO Simulation Validation: Hand Calculations vs Model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633472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0C8D0"/>
                </a:solidFill>
              </a:rPr>
              <a:t>Research Focus: Surrounding Vehicle Aggressiveness Data Collection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657600"/>
            <a:ext cx="24688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Conservative  (AI &lt; 35)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657600"/>
            <a:ext cx="246888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59" y="3657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Normal  (35-70)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657600"/>
            <a:ext cx="246888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3657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Aggressive  (AI &gt;= 70)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0C8D0"/>
                </a:solidFill>
              </a:rPr>
              <a:t>Data collected from SUMO TraCI  |  Scored with model.py AggressivenessModel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Aggressiveness Is Scored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8D0"/>
                </a:solidFill>
              </a:rPr>
              <a:t>Four raw SUMO sensor readings  -&gt;  normalise  -&gt;  weighted sum  -&gt;  label</a:t>
            </a:r>
          </a:p>
        </p:txBody>
      </p:sp>
      <p:pic>
        <p:nvPicPr>
          <p:cNvPr id="5" name="Picture 4" descr="ppt_chart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32004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84632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Normalisation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Power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Speed (km/h)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min(speed / 150, 1)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Squared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Accel (m/s2)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min(|accel| / 5, 1)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0.2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Linear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Proximity (m)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1 - prox/50  (&lt;=50 m)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0.8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Squared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Waviness (m)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min(wave / 1.5, 1)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0.4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Linear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C8D0"/>
                </a:solidFill>
              </a:rPr>
              <a:t>Proximity and waviness carry the highest weight — closeness + erratic lateral motion = aggressive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Hand Calculation  —  CONSERVATIVE Vehicle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94360"/>
            <a:ext cx="11612880" cy="548640"/>
          </a:xfrm>
          <a:prstGeom prst="rect">
            <a:avLst/>
          </a:prstGeom>
          <a:solidFill>
            <a:srgbClr val="1A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D0"/>
                </a:solidFill>
              </a:rPr>
              <a:t>Vehicle: cross_0   |   Epoch 1, Step 3   |   Vehicle far from ego (245 m), low speed, no lateral movement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3200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Raw Value (SUMO)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Speed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41.93 km/h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Acceleration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+0.000 m/s2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Proximity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245.68 m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Waviness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0.000 m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49039" y="1234440"/>
          <a:ext cx="7772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n_speed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min(41.93/150, 1.0)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0.27953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n_accel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min(|0.000|/5, 1.0)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0.00000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n_prox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 (outside 50 m window)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0.00000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n_wave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min(0.000/1.5, 1.0)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0.00000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324612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Calculation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n_speed^2 * w_speed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0.27953^2 * 0.5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0.039069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n_accel  * w_accel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0.00000   * 0.2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0.000000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n_prox^2 * w_prox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0.00000^2 * 0.8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0.000000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n_wave   * w_wave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0.00000   * 0.4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0.000000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SUM * 100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(0.0391+0.0000+0.0000+0.0000) * 100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3.907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686800" y="3246120"/>
            <a:ext cx="320040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0" y="3246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6118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3.91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4251960"/>
            <a:ext cx="32004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42519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Conservative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715000"/>
            <a:ext cx="116128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715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Hand calc = model.py output  [VERIFIED]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C8D0"/>
                </a:solidFill>
              </a:rP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Hand Calculation  —  NORMAL Vehicle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94360"/>
            <a:ext cx="11612880" cy="548640"/>
          </a:xfrm>
          <a:prstGeom prst="rect">
            <a:avLst/>
          </a:prstGeom>
          <a:solidFill>
            <a:srgbClr val="1A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D0"/>
                </a:solidFill>
              </a:rPr>
              <a:t>Vehicle: cross_0   |   Epoch 1, Step 6   |   Moderate speed, slight waviness (lane following), clear distance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3200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Raw Value (SUMO)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Speed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46.73 km/h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Acceleration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+0.483 m/s2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Proximity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229.28 m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Waviness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4.231 m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49039" y="1234440"/>
          <a:ext cx="7772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n_speed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min(46.73/150, 1.0)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0.31153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n_accel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min(|0.483|/5, 1.0)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0.09660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n_prox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 (outside 50 m window)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0.00000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n_wave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min(4.231/1.5, 1.0)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1.00000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324612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Calculation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n_speed^2 * w_speed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0.31153^2 * 0.5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0.048527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n_accel  * w_accel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0.09660   * 0.2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0.019320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n_prox^2 * w_prox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0.00000^2 * 0.8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0.000000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n_wave   * w_wave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1.00000   * 0.4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0.400000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SUM * 100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(0.0485+0.0193+0.0000+0.4000) * 100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46.785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686800" y="3246120"/>
            <a:ext cx="320040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0" y="3246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6118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46.78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4251960"/>
            <a:ext cx="3200400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42519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Normal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715000"/>
            <a:ext cx="116128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715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Hand calc = model.py output  [VERIFIED]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C8D0"/>
                </a:solidFill>
              </a:rP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Hand Calculation  —  AGGRESSIVE Vehicle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94360"/>
            <a:ext cx="11612880" cy="548640"/>
          </a:xfrm>
          <a:prstGeom prst="rect">
            <a:avLst/>
          </a:prstGeom>
          <a:solidFill>
            <a:srgbClr val="1A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D0"/>
                </a:solidFill>
              </a:rPr>
              <a:t>Vehicle: cross_0   |   Epoch 1, Step 148   |   Close proximity (18 m) + extreme waviness (33.7 m) signals danger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3200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Raw Value (SUMO)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Speed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46.77 km/h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Acceleration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+0.266 m/s2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Proximity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18.40 m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Waviness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33.748 m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49039" y="1234440"/>
          <a:ext cx="7772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n_speed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min(46.77/150, 1.0)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0.31180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n_accel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min(|0.266|/5, 1.0)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0.05320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n_prox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1 - 18.40/50 = 0.63200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0.63200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n_wave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min(33.748/1.5, 1.0)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1.00000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324612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Calculation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n_speed^2 * w_speed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0.31180^2 * 0.5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0.048610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n_accel  * w_accel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0.05320   * 0.2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0.010640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n_prox^2 * w_prox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0.63200^2 * 0.8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0.319539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n_wave   * w_wave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1.00000   * 0.4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0.400000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SUM * 100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(0.0486+0.0106+0.3195+0.4000) * 100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77.879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686800" y="3246120"/>
            <a:ext cx="320040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0" y="3246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6118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77.88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4251960"/>
            <a:ext cx="3200400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42519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Aggressive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715000"/>
            <a:ext cx="116128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715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Hand calc = model.py output  [VERIFIED]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C8D0"/>
                </a:solidFill>
              </a:rP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Ground Truth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8D0"/>
                </a:solidFill>
              </a:rPr>
              <a:t>All three vehicles are the same NPC (cross_0) observed at different simulation times. Raw SUMO data -&gt; hand calculation -&gt; model.py output: every score matches.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08760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Vehicle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Speed (km/h)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Accel (m/s2)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Prox (m)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Wave (m)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Hand Calc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Model.py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Match?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cross_0 (t=0.3 s)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41.93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245.68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3.91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3.91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Conservative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cross_0 (t=0.9 s)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46.73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+0.483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229.28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4.231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46.78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46.78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Normal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cross_0 (t=14.8 s)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46.77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+0.266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18.40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33.748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77.90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77.88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Aggressive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520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drives each score: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977639"/>
          <a:ext cx="1133856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Dominant Factor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Why it scores this way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Conservative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Speed only  (prox term = 0)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Vehicle is 246 m away — outside the 50 m proximity window. Only speed contributes: (0.28^2 * 0.5) * 100 = 3.91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Normal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Waviness (capped at 1.0)  +  speed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wave=4.2 m normalises to 1.0 (capped). Contributes 0.4 * 100 = 40 pts; speed adds ~5 pts. Total ~46.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Aggressive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Proximity^2 * 0.8  +  waviness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prox=18.4 m -&gt; n_prox=0.632 -&gt; 0.632^2*0.8*100 = 32 pts. Waviness adds 40 pts. Together: 77.9 -&gt; Aggressive.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515600" y="6537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C8D0"/>
                </a:solidFill>
              </a:rP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Intersection: NPC Aggressiveness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8D0"/>
                </a:solidFill>
              </a:rPr>
              <a:t>5 epochs  |  2,903 total observations  |  Conservative: 18 (1%)   Normal: 2735 (94%)   Aggressive: 150 (5%)</a:t>
            </a:r>
          </a:p>
        </p:txBody>
      </p:sp>
      <p:pic>
        <p:nvPicPr>
          <p:cNvPr id="5" name="Picture 4" descr="ppt_chart_inter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98" y="1451539"/>
            <a:ext cx="10058400" cy="367990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776047"/>
              </p:ext>
            </p:extLst>
          </p:nvPr>
        </p:nvGraphicFramePr>
        <p:xfrm>
          <a:off x="139308" y="5090160"/>
          <a:ext cx="5820092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7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2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Intersection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Total obs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2,903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Avg AI Score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50.4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Max AI Score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100.0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Conservative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18 (1%)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Normal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2735 (94%)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Aggressive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FFFFFF"/>
                          </a:solidFill>
                        </a:rPr>
                        <a:t>150 (5%)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15600" y="6537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C8D0"/>
                </a:solidFill>
              </a:rP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Highway: NPC Aggressiveness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8D0"/>
                </a:solidFill>
              </a:rPr>
              <a:t>5 epochs  |  8,924 total observations  |  Conservative: 3943 (44%)   Normal: 3941 (44%)   Aggressive: 1040 (12%)</a:t>
            </a:r>
          </a:p>
        </p:txBody>
      </p:sp>
      <p:pic>
        <p:nvPicPr>
          <p:cNvPr id="5" name="Picture 4" descr="ppt_chart_high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96" y="1426464"/>
            <a:ext cx="10058400" cy="367990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685000"/>
              </p:ext>
            </p:extLst>
          </p:nvPr>
        </p:nvGraphicFramePr>
        <p:xfrm>
          <a:off x="365760" y="5090160"/>
          <a:ext cx="489296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02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Highway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02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Total obs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8,924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02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Avg AI Score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46.1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02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Max AI Score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100.0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02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Conservative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3943 (44%)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02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Normal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3941 (44%)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02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Aggressive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FFFFFF"/>
                          </a:solidFill>
                        </a:rPr>
                        <a:t>1040 (12%)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15600" y="6537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C8D0"/>
                </a:solidFill>
              </a:rP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Model Effectiveness: Proximity Drives Aggressiveness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8D0"/>
                </a:solidFill>
              </a:rPr>
              <a:t>As proximity to the ego vehicle decreases, AI Score rises sharply — confirming the proximity weight (0.8) dominates when vehicles get close.</a:t>
            </a:r>
          </a:p>
        </p:txBody>
      </p:sp>
      <p:pic>
        <p:nvPicPr>
          <p:cNvPr id="5" name="Picture 4" descr="ppt_char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C8D0"/>
                </a:solidFill>
              </a:rPr>
              <a:t>Green = Conservative (far / slow)   |   Amber = Normal   |   Red = Aggressive (close + erratic)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080760"/>
            <a:ext cx="228600" cy="2011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08076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D0"/>
                </a:solidFill>
              </a:rPr>
              <a:t>Proximity^2 * 0.8: proximity contributes quadratically — halving distance quadruples the proximity score term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6309360"/>
            <a:ext cx="228600" cy="2011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30936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D0"/>
                </a:solidFill>
              </a:rPr>
              <a:t>Waviness captures erratic lateral movement; cross-traffic vehicles at intersection show wave_m up to 33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6537960"/>
            <a:ext cx="228600" cy="2011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3796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D0"/>
                </a:solidFill>
              </a:rPr>
              <a:t>Highway NPCs cluster at Conservative/Normal because they stay in their lanes (low waviness) and are far from ego (low proximity term)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C8D0"/>
                </a:solidFill>
              </a:rP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Summary &amp;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Model Validation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Hand calc == model.py (Conservative)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3.91 == 3.91   YES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Hand calc == model.py (Normal)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46.78 == 46.78 YES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Hand calc == model.py (Aggressive)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77.90 ~ 77.88  YES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Formula matches model.py exactly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CONFIRMED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Labels align with raw behavior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CONFIRMED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731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Data Collected (5 Epochs)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188720"/>
          <a:ext cx="53035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Observations</a:t>
                      </a:r>
                    </a:p>
                  </a:txBody>
                  <a:tcPr>
                    <a:solidFill>
                      <a:srgbClr val="1A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Intersection NPCs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2,903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Highway NPCs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8,924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11,827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Features per obs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speed, accel, prox, wave, score, label</a:t>
                      </a:r>
                    </a:p>
                  </a:txBody>
                  <a:tcPr>
                    <a:solidFill>
                      <a:srgbClr val="1E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Output files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sumo_npc_aggressiveness.csv  +  sumo_highway_npc_aggressiveness.csv</a:t>
                      </a:r>
                    </a:p>
                  </a:txBody>
                  <a:tcPr>
                    <a:solidFill>
                      <a:srgbClr val="16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337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40480"/>
            <a:ext cx="201168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840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D0"/>
                </a:solidFill>
              </a:rPr>
              <a:t>Proximity is the most powerful predictor — the 0.8 weight + squared normalisation means a close vehicle immediately pushes the score above 70 (Aggressive).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480560"/>
            <a:ext cx="201168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4805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D0"/>
                </a:solidFill>
              </a:rPr>
              <a:t>Waviness serves as a secondary signal — erratic lateral movement (wave &gt; 1.5 m) caps n_wave at 1.0, adding 40 pts regardless of speed.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120640"/>
            <a:ext cx="201168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51206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D0"/>
                </a:solidFill>
              </a:rPr>
              <a:t>The model correctly separates the same vehicle into all three categories as it approaches — validating dynamic re-scoring.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760720"/>
            <a:ext cx="201168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5760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D0"/>
                </a:solidFill>
              </a:rPr>
              <a:t>All scores from the SUMO simulation re-derive identically via hand calculation, proving the model is correctly wired end-to-end.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37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C8D0"/>
                </a:solidFill>
              </a:rP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1371</Words>
  <Application>Microsoft Office PowerPoint</Application>
  <PresentationFormat>Custom</PresentationFormat>
  <Paragraphs>306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Hadi Shmaissani</cp:lastModifiedBy>
  <cp:revision>2</cp:revision>
  <dcterms:created xsi:type="dcterms:W3CDTF">2013-01-27T09:14:16Z</dcterms:created>
  <dcterms:modified xsi:type="dcterms:W3CDTF">2026-04-30T09:14:16Z</dcterms:modified>
  <cp:category/>
</cp:coreProperties>
</file>